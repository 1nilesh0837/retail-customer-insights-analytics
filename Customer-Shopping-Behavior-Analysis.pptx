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Kanit Light" panose="020B0604020202020204" charset="-34"/>
      <p:regular r:id="rId13"/>
    </p:embeddedFont>
    <p:embeddedFont>
      <p:font typeface="Martel Sans" panose="020B060402020202020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44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639922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5.png"/><Relationship Id="rId11" Type="http://schemas.openxmlformats.org/officeDocument/2006/relationships/image" Target="../media/image30.svg"/><Relationship Id="rId5" Type="http://schemas.openxmlformats.org/officeDocument/2006/relationships/image" Target="../media/image24.svg"/><Relationship Id="rId10" Type="http://schemas.openxmlformats.org/officeDocument/2006/relationships/image" Target="../media/image29.png"/><Relationship Id="rId4" Type="http://schemas.openxmlformats.org/officeDocument/2006/relationships/image" Target="../media/image23.png"/><Relationship Id="rId9" Type="http://schemas.openxmlformats.org/officeDocument/2006/relationships/image" Target="../media/image28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34.png"/><Relationship Id="rId5" Type="http://schemas.openxmlformats.org/officeDocument/2006/relationships/image" Target="../media/image33.svg"/><Relationship Id="rId4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691527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Customer Shopping Behavior Analysis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449247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Uncovering insights from 3,900 customer transactions to drive strategic business decisions through data-driven analysis of spending patterns, preferences, and behavior.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3091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214824" y="572333"/>
            <a:ext cx="1915716" cy="391001"/>
          </a:xfrm>
          <a:prstGeom prst="roundRect">
            <a:avLst>
              <a:gd name="adj" fmla="val 17886"/>
            </a:avLst>
          </a:prstGeom>
          <a:solidFill>
            <a:srgbClr val="DFECE9"/>
          </a:solidFill>
          <a:ln/>
        </p:spPr>
      </p:sp>
      <p:sp>
        <p:nvSpPr>
          <p:cNvPr id="4" name="Text 1"/>
          <p:cNvSpPr/>
          <p:nvPr/>
        </p:nvSpPr>
        <p:spPr>
          <a:xfrm>
            <a:off x="6339602" y="634722"/>
            <a:ext cx="1666161" cy="266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3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DATASET OVERVIEW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6214824" y="1046559"/>
            <a:ext cx="5844897" cy="650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0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The Foundation: Our Data</a:t>
            </a:r>
            <a:endParaRPr lang="en-US" sz="4050" dirty="0"/>
          </a:p>
        </p:txBody>
      </p:sp>
      <p:sp>
        <p:nvSpPr>
          <p:cNvPr id="6" name="Text 3"/>
          <p:cNvSpPr/>
          <p:nvPr/>
        </p:nvSpPr>
        <p:spPr>
          <a:xfrm>
            <a:off x="6214824" y="2113121"/>
            <a:ext cx="2388870" cy="686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400"/>
              </a:lnSpc>
              <a:buNone/>
            </a:pPr>
            <a:r>
              <a:rPr lang="en-US" sz="54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3,900</a:t>
            </a:r>
            <a:endParaRPr lang="en-US" sz="5400" dirty="0"/>
          </a:p>
        </p:txBody>
      </p:sp>
      <p:sp>
        <p:nvSpPr>
          <p:cNvPr id="7" name="Text 4"/>
          <p:cNvSpPr/>
          <p:nvPr/>
        </p:nvSpPr>
        <p:spPr>
          <a:xfrm>
            <a:off x="6214824" y="3060025"/>
            <a:ext cx="2388870" cy="325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0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Total Transactions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6214824" y="3509962"/>
            <a:ext cx="2388870" cy="665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16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Customer purchases analyzed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863846" y="2113121"/>
            <a:ext cx="2388989" cy="686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400"/>
              </a:lnSpc>
              <a:buNone/>
            </a:pPr>
            <a:r>
              <a:rPr lang="en-US" sz="54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18</a:t>
            </a:r>
            <a:endParaRPr lang="en-US" sz="5400" dirty="0"/>
          </a:p>
        </p:txBody>
      </p:sp>
      <p:sp>
        <p:nvSpPr>
          <p:cNvPr id="10" name="Text 7"/>
          <p:cNvSpPr/>
          <p:nvPr/>
        </p:nvSpPr>
        <p:spPr>
          <a:xfrm>
            <a:off x="8863846" y="3060025"/>
            <a:ext cx="2388989" cy="325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0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Data Points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8863846" y="3509962"/>
            <a:ext cx="2388989" cy="665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16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Features per transaction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1512987" y="2113121"/>
            <a:ext cx="2388989" cy="686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400"/>
              </a:lnSpc>
              <a:buNone/>
            </a:pPr>
            <a:r>
              <a:rPr lang="en-US" sz="54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50</a:t>
            </a:r>
            <a:endParaRPr lang="en-US" sz="5400" dirty="0"/>
          </a:p>
        </p:txBody>
      </p:sp>
      <p:sp>
        <p:nvSpPr>
          <p:cNvPr id="13" name="Text 10"/>
          <p:cNvSpPr/>
          <p:nvPr/>
        </p:nvSpPr>
        <p:spPr>
          <a:xfrm>
            <a:off x="11512987" y="3060025"/>
            <a:ext cx="2388989" cy="325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0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Locations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11512987" y="3509962"/>
            <a:ext cx="2388989" cy="3328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16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Geographic coverage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8863846" y="4696063"/>
            <a:ext cx="2388989" cy="686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400"/>
              </a:lnSpc>
              <a:buNone/>
            </a:pPr>
            <a:r>
              <a:rPr lang="en-US" sz="54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25</a:t>
            </a:r>
            <a:endParaRPr lang="en-US" sz="5400" dirty="0"/>
          </a:p>
        </p:txBody>
      </p:sp>
      <p:sp>
        <p:nvSpPr>
          <p:cNvPr id="16" name="Text 13"/>
          <p:cNvSpPr/>
          <p:nvPr/>
        </p:nvSpPr>
        <p:spPr>
          <a:xfrm>
            <a:off x="8863846" y="5642967"/>
            <a:ext cx="2388989" cy="325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0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Products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8863846" y="6092904"/>
            <a:ext cx="2388989" cy="3328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16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Unique items tracked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6214824" y="6659880"/>
            <a:ext cx="7687151" cy="998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Dataset captures comprehensive customer demographics, purchase details, and shopping behavior across multiple categories including Clothing, Accessories, Footwear, and Outerwear.</a:t>
            </a:r>
            <a:endParaRPr lang="en-US" sz="1600" dirty="0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7CF43BDB-473C-2EE5-A6BB-8B7FB62D14C2}"/>
              </a:ext>
            </a:extLst>
          </p:cNvPr>
          <p:cNvSpPr/>
          <p:nvPr/>
        </p:nvSpPr>
        <p:spPr>
          <a:xfrm>
            <a:off x="12892802" y="7741681"/>
            <a:ext cx="1737598" cy="48791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04123" y="752237"/>
            <a:ext cx="1703903" cy="339566"/>
          </a:xfrm>
          <a:prstGeom prst="roundRect">
            <a:avLst>
              <a:gd name="adj" fmla="val 17083"/>
            </a:avLst>
          </a:prstGeom>
          <a:noFill/>
          <a:ln w="7620">
            <a:solidFill>
              <a:srgbClr val="437066"/>
            </a:solidFill>
            <a:prstDash val="solid"/>
          </a:ln>
        </p:spPr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5208" y="852964"/>
            <a:ext cx="137993" cy="13799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922139" y="811530"/>
            <a:ext cx="1274802" cy="220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437066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PYTHON ANALYSIS</a:t>
            </a:r>
            <a:endParaRPr lang="en-US" sz="1050" dirty="0"/>
          </a:p>
        </p:txBody>
      </p:sp>
      <p:sp>
        <p:nvSpPr>
          <p:cNvPr id="6" name="Text 2"/>
          <p:cNvSpPr/>
          <p:nvPr/>
        </p:nvSpPr>
        <p:spPr>
          <a:xfrm>
            <a:off x="604123" y="1160859"/>
            <a:ext cx="5365075" cy="539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00"/>
              </a:lnSpc>
              <a:buNone/>
            </a:pPr>
            <a:r>
              <a:rPr lang="en-US" sz="33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Data Preparation &amp; Cleaning</a:t>
            </a:r>
            <a:endParaRPr lang="en-US" sz="3350" dirty="0"/>
          </a:p>
        </p:txBody>
      </p:sp>
      <p:sp>
        <p:nvSpPr>
          <p:cNvPr id="7" name="Text 3"/>
          <p:cNvSpPr/>
          <p:nvPr/>
        </p:nvSpPr>
        <p:spPr>
          <a:xfrm>
            <a:off x="604123" y="1959173"/>
            <a:ext cx="172522" cy="215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01</a:t>
            </a:r>
            <a:endParaRPr lang="en-US" sz="1350" dirty="0"/>
          </a:p>
        </p:txBody>
      </p:sp>
      <p:sp>
        <p:nvSpPr>
          <p:cNvPr id="8" name="Shape 4"/>
          <p:cNvSpPr/>
          <p:nvPr/>
        </p:nvSpPr>
        <p:spPr>
          <a:xfrm>
            <a:off x="604123" y="2229564"/>
            <a:ext cx="7935754" cy="22860"/>
          </a:xfrm>
          <a:prstGeom prst="rect">
            <a:avLst/>
          </a:prstGeom>
          <a:solidFill>
            <a:srgbClr val="437066"/>
          </a:solidFill>
          <a:ln/>
        </p:spPr>
      </p:sp>
      <p:sp>
        <p:nvSpPr>
          <p:cNvPr id="9" name="Text 5"/>
          <p:cNvSpPr/>
          <p:nvPr/>
        </p:nvSpPr>
        <p:spPr>
          <a:xfrm>
            <a:off x="604123" y="2361486"/>
            <a:ext cx="2598539" cy="269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Data Loading &amp; Exploration</a:t>
            </a:r>
            <a:endParaRPr lang="en-US" sz="1650" dirty="0"/>
          </a:p>
        </p:txBody>
      </p:sp>
      <p:sp>
        <p:nvSpPr>
          <p:cNvPr id="10" name="Text 6"/>
          <p:cNvSpPr/>
          <p:nvPr/>
        </p:nvSpPr>
        <p:spPr>
          <a:xfrm>
            <a:off x="604123" y="2734628"/>
            <a:ext cx="7935754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Imported dataset using pandas and performed initial structure analysis with df.info() and summary statistics.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604123" y="3589020"/>
            <a:ext cx="172522" cy="215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02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604123" y="3859411"/>
            <a:ext cx="7935754" cy="22860"/>
          </a:xfrm>
          <a:prstGeom prst="rect">
            <a:avLst/>
          </a:prstGeom>
          <a:solidFill>
            <a:srgbClr val="437066"/>
          </a:solidFill>
          <a:ln/>
        </p:spPr>
      </p:sp>
      <p:sp>
        <p:nvSpPr>
          <p:cNvPr id="13" name="Text 9"/>
          <p:cNvSpPr/>
          <p:nvPr/>
        </p:nvSpPr>
        <p:spPr>
          <a:xfrm>
            <a:off x="604123" y="3991332"/>
            <a:ext cx="2157889" cy="269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Missing Data Handling</a:t>
            </a:r>
            <a:endParaRPr lang="en-US" sz="1650" dirty="0"/>
          </a:p>
        </p:txBody>
      </p:sp>
      <p:sp>
        <p:nvSpPr>
          <p:cNvPr id="14" name="Text 10"/>
          <p:cNvSpPr/>
          <p:nvPr/>
        </p:nvSpPr>
        <p:spPr>
          <a:xfrm>
            <a:off x="604123" y="4364474"/>
            <a:ext cx="7935754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Imputed 37 missing Review Rating values using median rating by product category.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604123" y="4942642"/>
            <a:ext cx="172522" cy="215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03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604123" y="5213033"/>
            <a:ext cx="7935754" cy="22860"/>
          </a:xfrm>
          <a:prstGeom prst="rect">
            <a:avLst/>
          </a:prstGeom>
          <a:solidFill>
            <a:srgbClr val="437066"/>
          </a:solidFill>
          <a:ln/>
        </p:spPr>
      </p:sp>
      <p:sp>
        <p:nvSpPr>
          <p:cNvPr id="17" name="Text 13"/>
          <p:cNvSpPr/>
          <p:nvPr/>
        </p:nvSpPr>
        <p:spPr>
          <a:xfrm>
            <a:off x="604123" y="5344954"/>
            <a:ext cx="2157889" cy="269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Feature Engineering</a:t>
            </a:r>
            <a:endParaRPr lang="en-US" sz="1650" dirty="0"/>
          </a:p>
        </p:txBody>
      </p:sp>
      <p:sp>
        <p:nvSpPr>
          <p:cNvPr id="18" name="Text 14"/>
          <p:cNvSpPr/>
          <p:nvPr/>
        </p:nvSpPr>
        <p:spPr>
          <a:xfrm>
            <a:off x="604123" y="5718096"/>
            <a:ext cx="7935754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Created age_group bins and purchase_frequency_days columns for deeper analysis.</a:t>
            </a:r>
            <a:endParaRPr lang="en-US" sz="1350" dirty="0"/>
          </a:p>
        </p:txBody>
      </p:sp>
      <p:sp>
        <p:nvSpPr>
          <p:cNvPr id="19" name="Text 15"/>
          <p:cNvSpPr/>
          <p:nvPr/>
        </p:nvSpPr>
        <p:spPr>
          <a:xfrm>
            <a:off x="604123" y="6296263"/>
            <a:ext cx="172522" cy="215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04</a:t>
            </a:r>
            <a:endParaRPr lang="en-US" sz="1350" dirty="0"/>
          </a:p>
        </p:txBody>
      </p:sp>
      <p:sp>
        <p:nvSpPr>
          <p:cNvPr id="20" name="Shape 16"/>
          <p:cNvSpPr/>
          <p:nvPr/>
        </p:nvSpPr>
        <p:spPr>
          <a:xfrm>
            <a:off x="604123" y="6566654"/>
            <a:ext cx="7935754" cy="22860"/>
          </a:xfrm>
          <a:prstGeom prst="rect">
            <a:avLst/>
          </a:prstGeom>
          <a:solidFill>
            <a:srgbClr val="437066"/>
          </a:solidFill>
          <a:ln/>
        </p:spPr>
      </p:sp>
      <p:sp>
        <p:nvSpPr>
          <p:cNvPr id="21" name="Text 17"/>
          <p:cNvSpPr/>
          <p:nvPr/>
        </p:nvSpPr>
        <p:spPr>
          <a:xfrm>
            <a:off x="604123" y="6698575"/>
            <a:ext cx="2157889" cy="269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Database Integration</a:t>
            </a:r>
            <a:endParaRPr lang="en-US" sz="1650" dirty="0"/>
          </a:p>
        </p:txBody>
      </p:sp>
      <p:sp>
        <p:nvSpPr>
          <p:cNvPr id="22" name="Text 18"/>
          <p:cNvSpPr/>
          <p:nvPr/>
        </p:nvSpPr>
        <p:spPr>
          <a:xfrm>
            <a:off x="604123" y="7071717"/>
            <a:ext cx="7935754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Connected to PostgreSQL and loaded cleaned data for SQL analysis.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833330" y="389930"/>
            <a:ext cx="1219557" cy="266343"/>
          </a:xfrm>
          <a:prstGeom prst="roundRect">
            <a:avLst>
              <a:gd name="adj" fmla="val 17878"/>
            </a:avLst>
          </a:prstGeom>
          <a:solidFill>
            <a:srgbClr val="DFECE9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918341" y="466368"/>
            <a:ext cx="113348" cy="1133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088362" y="432435"/>
            <a:ext cx="879515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KEY STATISTICS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2833330" y="725924"/>
            <a:ext cx="4153138" cy="442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Customer Profile Snapshot</a:t>
            </a:r>
            <a:endParaRPr lang="en-US" sz="2750" dirty="0"/>
          </a:p>
        </p:txBody>
      </p:sp>
      <p:sp>
        <p:nvSpPr>
          <p:cNvPr id="6" name="Text 3"/>
          <p:cNvSpPr/>
          <p:nvPr/>
        </p:nvSpPr>
        <p:spPr>
          <a:xfrm>
            <a:off x="4116110" y="2461855"/>
            <a:ext cx="1743075" cy="3542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7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68%</a:t>
            </a:r>
            <a:endParaRPr lang="en-US" sz="27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24895" y="1576149"/>
            <a:ext cx="2125742" cy="212574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102060" y="3878937"/>
            <a:ext cx="177141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Male Customers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2833330" y="4242078"/>
            <a:ext cx="4308872" cy="226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Gender distribution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4116110" y="5673209"/>
            <a:ext cx="1743075" cy="3542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7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73%</a:t>
            </a:r>
            <a:endParaRPr lang="en-US" sz="27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24895" y="4787503"/>
            <a:ext cx="2125742" cy="212574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102060" y="7090291"/>
            <a:ext cx="177141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Non-Subscribers</a:t>
            </a:r>
            <a:endParaRPr lang="en-US" sz="1350" dirty="0"/>
          </a:p>
        </p:txBody>
      </p:sp>
      <p:sp>
        <p:nvSpPr>
          <p:cNvPr id="13" name="Text 8"/>
          <p:cNvSpPr/>
          <p:nvPr/>
        </p:nvSpPr>
        <p:spPr>
          <a:xfrm>
            <a:off x="2833330" y="7453432"/>
            <a:ext cx="4308872" cy="226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Subscription status</a:t>
            </a:r>
            <a:endParaRPr lang="en-US" sz="1100" dirty="0"/>
          </a:p>
        </p:txBody>
      </p:sp>
      <p:sp>
        <p:nvSpPr>
          <p:cNvPr id="14" name="Text 9"/>
          <p:cNvSpPr/>
          <p:nvPr/>
        </p:nvSpPr>
        <p:spPr>
          <a:xfrm>
            <a:off x="7495580" y="1523047"/>
            <a:ext cx="177141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Demographics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7495580" y="1886188"/>
            <a:ext cx="4308872" cy="226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Average age: 44 years (range 18-70)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7495580" y="2162413"/>
            <a:ext cx="4308872" cy="226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Average purchase: $59.76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7495580" y="2438638"/>
            <a:ext cx="4308872" cy="226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Average rating: 3.75/5.0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7495580" y="2714863"/>
            <a:ext cx="4308872" cy="226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Most common size: Medium</a:t>
            </a:r>
            <a:endParaRPr lang="en-US" sz="1100" dirty="0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5580" y="3100983"/>
            <a:ext cx="4308872" cy="4308872"/>
          </a:xfrm>
          <a:prstGeom prst="rect">
            <a:avLst/>
          </a:prstGeom>
        </p:spPr>
      </p:pic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B3273BF2-80D5-7AD4-6886-C31C025CD0CD}"/>
              </a:ext>
            </a:extLst>
          </p:cNvPr>
          <p:cNvSpPr/>
          <p:nvPr/>
        </p:nvSpPr>
        <p:spPr>
          <a:xfrm>
            <a:off x="12892802" y="7741681"/>
            <a:ext cx="1737598" cy="48791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20340" y="400169"/>
            <a:ext cx="1162169" cy="288250"/>
          </a:xfrm>
          <a:prstGeom prst="roundRect">
            <a:avLst>
              <a:gd name="adj" fmla="val 16936"/>
            </a:avLst>
          </a:prstGeom>
          <a:noFill/>
          <a:ln w="7620">
            <a:solidFill>
              <a:srgbClr val="437066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15114" y="486132"/>
            <a:ext cx="116205" cy="11620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989421" y="451366"/>
            <a:ext cx="798314" cy="1858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900" dirty="0">
                <a:solidFill>
                  <a:srgbClr val="437066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SQL INSIGHTS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2720340" y="748070"/>
            <a:ext cx="4349710" cy="453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8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Revenue &amp; Gender Analysis</a:t>
            </a:r>
            <a:endParaRPr lang="en-US" sz="28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20340" y="1419939"/>
            <a:ext cx="9189601" cy="5146119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2720340" y="6729412"/>
            <a:ext cx="4522113" cy="1099899"/>
          </a:xfrm>
          <a:prstGeom prst="roundRect">
            <a:avLst>
              <a:gd name="adj" fmla="val 5548"/>
            </a:avLst>
          </a:prstGeom>
          <a:solidFill>
            <a:srgbClr val="FFFFFF"/>
          </a:solidFill>
          <a:ln w="15240">
            <a:solidFill>
              <a:srgbClr val="C5D2CF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2880836" y="6889909"/>
            <a:ext cx="1816060" cy="226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Male Dominance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2880836" y="7203996"/>
            <a:ext cx="4201120" cy="464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Male customers generate 2.1x more revenue than female customers, representing 68% of total revenue.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7387709" y="6729412"/>
            <a:ext cx="4522232" cy="1099899"/>
          </a:xfrm>
          <a:prstGeom prst="roundRect">
            <a:avLst>
              <a:gd name="adj" fmla="val 5548"/>
            </a:avLst>
          </a:prstGeom>
          <a:solidFill>
            <a:srgbClr val="FFFFFF"/>
          </a:solidFill>
          <a:ln w="15240">
            <a:solidFill>
              <a:srgbClr val="C5D2CF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7548205" y="6889909"/>
            <a:ext cx="1816060" cy="226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Strategic Opportunity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7548205" y="7203996"/>
            <a:ext cx="4201239" cy="464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Significant potential to grow female customer segment through targeted marketing and product offerings.</a:t>
            </a:r>
            <a:endParaRPr lang="en-US" sz="1100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3F070B04-D504-3B93-826D-E5BAFB4C6243}"/>
              </a:ext>
            </a:extLst>
          </p:cNvPr>
          <p:cNvSpPr/>
          <p:nvPr/>
        </p:nvSpPr>
        <p:spPr>
          <a:xfrm>
            <a:off x="12892802" y="7741681"/>
            <a:ext cx="1737598" cy="48791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156454"/>
            <a:ext cx="736330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Product Performance Leaders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243220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Top Rated Products</a:t>
            </a:r>
            <a:endParaRPr lang="en-US" sz="22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3041690"/>
            <a:ext cx="382667" cy="340162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3130" y="3041690"/>
            <a:ext cx="382667" cy="340162"/>
          </a:xfrm>
          <a:prstGeom prst="rect">
            <a:avLst/>
          </a:prstGeom>
        </p:spPr>
      </p:pic>
      <p:pic>
        <p:nvPicPr>
          <p:cNvPr id="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2471" y="3041690"/>
            <a:ext cx="382667" cy="340162"/>
          </a:xfrm>
          <a:prstGeom prst="rect">
            <a:avLst/>
          </a:prstGeom>
        </p:spPr>
      </p:pic>
      <p:pic>
        <p:nvPicPr>
          <p:cNvPr id="8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11812" y="3041690"/>
            <a:ext cx="382667" cy="340162"/>
          </a:xfrm>
          <a:prstGeom prst="rect">
            <a:avLst/>
          </a:prstGeom>
        </p:spPr>
      </p:pic>
      <p:pic>
        <p:nvPicPr>
          <p:cNvPr id="9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11812" y="3041690"/>
            <a:ext cx="382667" cy="340162"/>
          </a:xfrm>
          <a:prstGeom prst="rect">
            <a:avLst/>
          </a:prstGeom>
        </p:spPr>
      </p:pic>
      <p:pic>
        <p:nvPicPr>
          <p:cNvPr id="10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51152" y="3041690"/>
            <a:ext cx="382667" cy="340162"/>
          </a:xfrm>
          <a:prstGeom prst="rect">
            <a:avLst/>
          </a:prstGeom>
        </p:spPr>
      </p:pic>
      <p:sp>
        <p:nvSpPr>
          <p:cNvPr id="11" name="Text 2"/>
          <p:cNvSpPr/>
          <p:nvPr/>
        </p:nvSpPr>
        <p:spPr>
          <a:xfrm>
            <a:off x="3103840" y="3115866"/>
            <a:ext cx="356235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3.9</a:t>
            </a:r>
            <a:endParaRPr lang="en-US" sz="2200" dirty="0"/>
          </a:p>
        </p:txBody>
      </p:sp>
      <p:sp>
        <p:nvSpPr>
          <p:cNvPr id="12" name="Text 3"/>
          <p:cNvSpPr/>
          <p:nvPr/>
        </p:nvSpPr>
        <p:spPr>
          <a:xfrm>
            <a:off x="793790" y="364367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Gloves</a:t>
            </a:r>
            <a:endParaRPr lang="en-US" sz="2200" dirty="0"/>
          </a:p>
        </p:txBody>
      </p:sp>
      <p:pic>
        <p:nvPicPr>
          <p:cNvPr id="13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4451628"/>
            <a:ext cx="382667" cy="340162"/>
          </a:xfrm>
          <a:prstGeom prst="rect">
            <a:avLst/>
          </a:prstGeom>
        </p:spPr>
      </p:pic>
      <p:pic>
        <p:nvPicPr>
          <p:cNvPr id="14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3130" y="4451628"/>
            <a:ext cx="382667" cy="340162"/>
          </a:xfrm>
          <a:prstGeom prst="rect">
            <a:avLst/>
          </a:prstGeom>
        </p:spPr>
      </p:pic>
      <p:pic>
        <p:nvPicPr>
          <p:cNvPr id="15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2471" y="4451628"/>
            <a:ext cx="382667" cy="340162"/>
          </a:xfrm>
          <a:prstGeom prst="rect">
            <a:avLst/>
          </a:prstGeom>
        </p:spPr>
      </p:pic>
      <p:pic>
        <p:nvPicPr>
          <p:cNvPr id="16" name="Image 1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11812" y="4451628"/>
            <a:ext cx="382667" cy="340162"/>
          </a:xfrm>
          <a:prstGeom prst="rect">
            <a:avLst/>
          </a:prstGeom>
        </p:spPr>
      </p:pic>
      <p:pic>
        <p:nvPicPr>
          <p:cNvPr id="17" name="Image 1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11812" y="4451628"/>
            <a:ext cx="382667" cy="340162"/>
          </a:xfrm>
          <a:prstGeom prst="rect">
            <a:avLst/>
          </a:prstGeom>
        </p:spPr>
      </p:pic>
      <p:pic>
        <p:nvPicPr>
          <p:cNvPr id="18" name="Image 1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51152" y="4451628"/>
            <a:ext cx="382667" cy="340162"/>
          </a:xfrm>
          <a:prstGeom prst="rect">
            <a:avLst/>
          </a:prstGeom>
        </p:spPr>
      </p:pic>
      <p:sp>
        <p:nvSpPr>
          <p:cNvPr id="19" name="Text 4"/>
          <p:cNvSpPr/>
          <p:nvPr/>
        </p:nvSpPr>
        <p:spPr>
          <a:xfrm>
            <a:off x="3103840" y="4525804"/>
            <a:ext cx="360521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3.8</a:t>
            </a:r>
            <a:endParaRPr lang="en-US" sz="2200" dirty="0"/>
          </a:p>
        </p:txBody>
      </p:sp>
      <p:sp>
        <p:nvSpPr>
          <p:cNvPr id="20" name="Text 5"/>
          <p:cNvSpPr/>
          <p:nvPr/>
        </p:nvSpPr>
        <p:spPr>
          <a:xfrm>
            <a:off x="793790" y="505360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Sandals</a:t>
            </a:r>
            <a:endParaRPr lang="en-US" sz="2200" dirty="0"/>
          </a:p>
        </p:txBody>
      </p:sp>
      <p:pic>
        <p:nvPicPr>
          <p:cNvPr id="21" name="Image 1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5861566"/>
            <a:ext cx="382667" cy="340162"/>
          </a:xfrm>
          <a:prstGeom prst="rect">
            <a:avLst/>
          </a:prstGeom>
        </p:spPr>
      </p:pic>
      <p:pic>
        <p:nvPicPr>
          <p:cNvPr id="22" name="Image 1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3130" y="5861566"/>
            <a:ext cx="382667" cy="340162"/>
          </a:xfrm>
          <a:prstGeom prst="rect">
            <a:avLst/>
          </a:prstGeom>
        </p:spPr>
      </p:pic>
      <p:pic>
        <p:nvPicPr>
          <p:cNvPr id="23" name="Image 1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2471" y="5861566"/>
            <a:ext cx="382667" cy="340162"/>
          </a:xfrm>
          <a:prstGeom prst="rect">
            <a:avLst/>
          </a:prstGeom>
        </p:spPr>
      </p:pic>
      <p:pic>
        <p:nvPicPr>
          <p:cNvPr id="24" name="Image 1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11812" y="5861566"/>
            <a:ext cx="382667" cy="340162"/>
          </a:xfrm>
          <a:prstGeom prst="rect">
            <a:avLst/>
          </a:prstGeom>
        </p:spPr>
      </p:pic>
      <p:pic>
        <p:nvPicPr>
          <p:cNvPr id="25" name="Image 1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11812" y="5861566"/>
            <a:ext cx="382667" cy="340162"/>
          </a:xfrm>
          <a:prstGeom prst="rect">
            <a:avLst/>
          </a:prstGeom>
        </p:spPr>
      </p:pic>
      <p:pic>
        <p:nvPicPr>
          <p:cNvPr id="26" name="Image 1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51152" y="5861566"/>
            <a:ext cx="382667" cy="340162"/>
          </a:xfrm>
          <a:prstGeom prst="rect">
            <a:avLst/>
          </a:prstGeom>
        </p:spPr>
      </p:pic>
      <p:sp>
        <p:nvSpPr>
          <p:cNvPr id="27" name="Text 6"/>
          <p:cNvSpPr/>
          <p:nvPr/>
        </p:nvSpPr>
        <p:spPr>
          <a:xfrm>
            <a:off x="3103840" y="5935742"/>
            <a:ext cx="360521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3.8</a:t>
            </a:r>
            <a:endParaRPr lang="en-US" sz="2200" dirty="0"/>
          </a:p>
        </p:txBody>
      </p:sp>
      <p:sp>
        <p:nvSpPr>
          <p:cNvPr id="28" name="Text 7"/>
          <p:cNvSpPr/>
          <p:nvPr/>
        </p:nvSpPr>
        <p:spPr>
          <a:xfrm>
            <a:off x="793790" y="646354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Boots</a:t>
            </a:r>
            <a:endParaRPr lang="en-US" sz="2200" dirty="0"/>
          </a:p>
        </p:txBody>
      </p:sp>
      <p:sp>
        <p:nvSpPr>
          <p:cNvPr id="29" name="Text 8"/>
          <p:cNvSpPr/>
          <p:nvPr/>
        </p:nvSpPr>
        <p:spPr>
          <a:xfrm>
            <a:off x="4856321" y="2432209"/>
            <a:ext cx="335768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Discount-Dependent Items</a:t>
            </a:r>
            <a:endParaRPr lang="en-US" sz="2200" dirty="0"/>
          </a:p>
        </p:txBody>
      </p:sp>
      <p:sp>
        <p:nvSpPr>
          <p:cNvPr id="30" name="Text 9"/>
          <p:cNvSpPr/>
          <p:nvPr/>
        </p:nvSpPr>
        <p:spPr>
          <a:xfrm>
            <a:off x="4856321" y="3013353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Font typeface="+mj-lt"/>
              <a:buAutoNum type="arabicPeriod"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Hat (50% discount rate)</a:t>
            </a:r>
            <a:endParaRPr lang="en-US" sz="1750" dirty="0"/>
          </a:p>
        </p:txBody>
      </p:sp>
      <p:sp>
        <p:nvSpPr>
          <p:cNvPr id="31" name="Text 10"/>
          <p:cNvSpPr/>
          <p:nvPr/>
        </p:nvSpPr>
        <p:spPr>
          <a:xfrm>
            <a:off x="4856321" y="3455551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Font typeface="+mj-lt"/>
              <a:buAutoNum type="arabicPeriod" startAt="2"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Sneakers (49.66%)</a:t>
            </a:r>
            <a:endParaRPr lang="en-US" sz="1750" dirty="0"/>
          </a:p>
        </p:txBody>
      </p:sp>
      <p:sp>
        <p:nvSpPr>
          <p:cNvPr id="32" name="Text 11"/>
          <p:cNvSpPr/>
          <p:nvPr/>
        </p:nvSpPr>
        <p:spPr>
          <a:xfrm>
            <a:off x="4856321" y="3897749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Font typeface="+mj-lt"/>
              <a:buAutoNum type="arabicPeriod" startAt="3"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Coat (49.07%)</a:t>
            </a:r>
            <a:endParaRPr lang="en-US" sz="1750" dirty="0"/>
          </a:p>
        </p:txBody>
      </p:sp>
      <p:sp>
        <p:nvSpPr>
          <p:cNvPr id="33" name="Text 12"/>
          <p:cNvSpPr/>
          <p:nvPr/>
        </p:nvSpPr>
        <p:spPr>
          <a:xfrm>
            <a:off x="4856321" y="4339947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Font typeface="+mj-lt"/>
              <a:buAutoNum type="arabicPeriod" startAt="4"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Sweater (48.17%)</a:t>
            </a:r>
            <a:endParaRPr lang="en-US" sz="1750" dirty="0"/>
          </a:p>
        </p:txBody>
      </p:sp>
      <p:sp>
        <p:nvSpPr>
          <p:cNvPr id="34" name="Text 13"/>
          <p:cNvSpPr/>
          <p:nvPr/>
        </p:nvSpPr>
        <p:spPr>
          <a:xfrm>
            <a:off x="4856321" y="4782145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Font typeface="+mj-lt"/>
              <a:buAutoNum type="arabicPeriod" startAt="5"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Pants (47.37%)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9503" y="621983"/>
            <a:ext cx="2283619" cy="423982"/>
          </a:xfrm>
          <a:prstGeom prst="roundRect">
            <a:avLst>
              <a:gd name="adj" fmla="val 17876"/>
            </a:avLst>
          </a:prstGeom>
          <a:solidFill>
            <a:srgbClr val="DFECE9"/>
          </a:solidFill>
          <a:ln/>
        </p:spPr>
      </p:sp>
      <p:sp>
        <p:nvSpPr>
          <p:cNvPr id="3" name="Text 1"/>
          <p:cNvSpPr/>
          <p:nvPr/>
        </p:nvSpPr>
        <p:spPr>
          <a:xfrm>
            <a:off x="924758" y="689610"/>
            <a:ext cx="2013109" cy="288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CUSTOMER SEGMENTS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89503" y="1136094"/>
            <a:ext cx="8138517" cy="704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Understanding Customer Loyalty</a:t>
            </a:r>
            <a:endParaRPr lang="en-US" sz="4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5610" y="2179201"/>
            <a:ext cx="2153364" cy="80343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893582" y="2469356"/>
            <a:ext cx="317183" cy="3964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950"/>
              </a:lnSpc>
              <a:buNone/>
            </a:pPr>
            <a:r>
              <a:rPr lang="en-US" sz="24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1</a:t>
            </a:r>
            <a:endParaRPr lang="en-US" sz="2450" dirty="0"/>
          </a:p>
        </p:txBody>
      </p:sp>
      <p:sp>
        <p:nvSpPr>
          <p:cNvPr id="7" name="Text 4"/>
          <p:cNvSpPr/>
          <p:nvPr/>
        </p:nvSpPr>
        <p:spPr>
          <a:xfrm>
            <a:off x="5354479" y="2404705"/>
            <a:ext cx="1081326" cy="352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New (83)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5185291" y="2995493"/>
            <a:ext cx="8599289" cy="15240"/>
          </a:xfrm>
          <a:prstGeom prst="roundRect">
            <a:avLst>
              <a:gd name="adj" fmla="val 621660"/>
            </a:avLst>
          </a:prstGeom>
          <a:solidFill>
            <a:srgbClr val="C5D2CF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98809" y="3038951"/>
            <a:ext cx="4306848" cy="80343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893582" y="3242429"/>
            <a:ext cx="317183" cy="3964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950"/>
              </a:lnSpc>
              <a:buNone/>
            </a:pPr>
            <a:r>
              <a:rPr lang="en-US" sz="24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2</a:t>
            </a:r>
            <a:endParaRPr lang="en-US" sz="2450" dirty="0"/>
          </a:p>
        </p:txBody>
      </p:sp>
      <p:sp>
        <p:nvSpPr>
          <p:cNvPr id="11" name="Text 7"/>
          <p:cNvSpPr/>
          <p:nvPr/>
        </p:nvSpPr>
        <p:spPr>
          <a:xfrm>
            <a:off x="6431161" y="3264456"/>
            <a:ext cx="1866781" cy="352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Returning (701)</a:t>
            </a:r>
            <a:endParaRPr lang="en-US" sz="2200" dirty="0"/>
          </a:p>
        </p:txBody>
      </p:sp>
      <p:sp>
        <p:nvSpPr>
          <p:cNvPr id="12" name="Shape 8"/>
          <p:cNvSpPr/>
          <p:nvPr/>
        </p:nvSpPr>
        <p:spPr>
          <a:xfrm>
            <a:off x="6261973" y="3855244"/>
            <a:ext cx="7522607" cy="15240"/>
          </a:xfrm>
          <a:prstGeom prst="roundRect">
            <a:avLst>
              <a:gd name="adj" fmla="val 621660"/>
            </a:avLst>
          </a:prstGeom>
          <a:solidFill>
            <a:srgbClr val="C5D2CF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127" y="3898702"/>
            <a:ext cx="6460331" cy="80343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893582" y="4102179"/>
            <a:ext cx="317183" cy="3964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950"/>
              </a:lnSpc>
              <a:buNone/>
            </a:pPr>
            <a:r>
              <a:rPr lang="en-US" sz="24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3</a:t>
            </a:r>
            <a:endParaRPr lang="en-US" sz="2450" dirty="0"/>
          </a:p>
        </p:txBody>
      </p:sp>
      <p:sp>
        <p:nvSpPr>
          <p:cNvPr id="15" name="Text 10"/>
          <p:cNvSpPr/>
          <p:nvPr/>
        </p:nvSpPr>
        <p:spPr>
          <a:xfrm>
            <a:off x="7507962" y="4124206"/>
            <a:ext cx="1418273" cy="352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Loyal (3,116)</a:t>
            </a:r>
            <a:endParaRPr lang="en-US" sz="2200" dirty="0"/>
          </a:p>
        </p:txBody>
      </p:sp>
      <p:sp>
        <p:nvSpPr>
          <p:cNvPr id="16" name="Text 11"/>
          <p:cNvSpPr/>
          <p:nvPr/>
        </p:nvSpPr>
        <p:spPr>
          <a:xfrm>
            <a:off x="789503" y="4955858"/>
            <a:ext cx="13051393" cy="7219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80% of customers fall into the Loyal segment, demonstrating strong retention. However, only 27% have active subscriptions, revealing untapped potential for recurring revenue growth.</a:t>
            </a:r>
            <a:endParaRPr lang="en-US" sz="1750" dirty="0"/>
          </a:p>
        </p:txBody>
      </p:sp>
      <p:sp>
        <p:nvSpPr>
          <p:cNvPr id="17" name="Shape 12"/>
          <p:cNvSpPr/>
          <p:nvPr/>
        </p:nvSpPr>
        <p:spPr>
          <a:xfrm>
            <a:off x="789503" y="5931575"/>
            <a:ext cx="6412944" cy="1675924"/>
          </a:xfrm>
          <a:prstGeom prst="roundRect">
            <a:avLst>
              <a:gd name="adj" fmla="val 5653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1022628" y="6164699"/>
            <a:ext cx="2819638" cy="352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Subscribers</a:t>
            </a:r>
            <a:endParaRPr lang="en-US" sz="2200" dirty="0"/>
          </a:p>
        </p:txBody>
      </p:sp>
      <p:sp>
        <p:nvSpPr>
          <p:cNvPr id="19" name="Text 14"/>
          <p:cNvSpPr/>
          <p:nvPr/>
        </p:nvSpPr>
        <p:spPr>
          <a:xfrm>
            <a:off x="1022628" y="6652379"/>
            <a:ext cx="5946696" cy="7219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1,053 customers | $59.49 avg spend | $62,645 total revenue</a:t>
            </a:r>
            <a:endParaRPr lang="en-US" sz="1750" dirty="0"/>
          </a:p>
        </p:txBody>
      </p:sp>
      <p:sp>
        <p:nvSpPr>
          <p:cNvPr id="20" name="Shape 15"/>
          <p:cNvSpPr/>
          <p:nvPr/>
        </p:nvSpPr>
        <p:spPr>
          <a:xfrm>
            <a:off x="7427952" y="5931575"/>
            <a:ext cx="6412944" cy="1675924"/>
          </a:xfrm>
          <a:prstGeom prst="roundRect">
            <a:avLst>
              <a:gd name="adj" fmla="val 5653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7661077" y="6164699"/>
            <a:ext cx="2819638" cy="352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Non-Subscribers</a:t>
            </a:r>
            <a:endParaRPr lang="en-US" sz="2200" dirty="0"/>
          </a:p>
        </p:txBody>
      </p:sp>
      <p:sp>
        <p:nvSpPr>
          <p:cNvPr id="22" name="Text 17"/>
          <p:cNvSpPr/>
          <p:nvPr/>
        </p:nvSpPr>
        <p:spPr>
          <a:xfrm>
            <a:off x="7661077" y="6652379"/>
            <a:ext cx="5946696" cy="7219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2,847 customers | $59.87 avg spend | $170,436 total revenue</a:t>
            </a:r>
            <a:endParaRPr lang="en-US" sz="1750" dirty="0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A3728CBC-A53F-70F1-3C86-796A1A48EF13}"/>
              </a:ext>
            </a:extLst>
          </p:cNvPr>
          <p:cNvSpPr/>
          <p:nvPr/>
        </p:nvSpPr>
        <p:spPr>
          <a:xfrm>
            <a:off x="12892802" y="7741681"/>
            <a:ext cx="1737598" cy="48791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644021" y="406122"/>
            <a:ext cx="4748093" cy="4614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9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Revenue Distribution Insights</a:t>
            </a:r>
            <a:endParaRPr lang="en-US" sz="29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4021" y="1163003"/>
            <a:ext cx="9342358" cy="523160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644021" y="6693575"/>
            <a:ext cx="5461278" cy="709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Young Adults lead revenue generation, followed closely by Middle-Aged customers. Clothing dominates category sales at $100K, with Accessories second at $80K.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8473202" y="6708338"/>
            <a:ext cx="1846302" cy="230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Shipping Preferences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8473202" y="7086719"/>
            <a:ext cx="3520678" cy="2363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Express: $60.48 avg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8473202" y="7455932"/>
            <a:ext cx="3520678" cy="2363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Standard: $58.46 avg</a:t>
            </a:r>
            <a:endParaRPr lang="en-US" sz="1150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9CBD35A-2547-276C-C766-1B2A0C9CCC9E}"/>
              </a:ext>
            </a:extLst>
          </p:cNvPr>
          <p:cNvSpPr/>
          <p:nvPr/>
        </p:nvSpPr>
        <p:spPr>
          <a:xfrm>
            <a:off x="12892802" y="7741681"/>
            <a:ext cx="1737598" cy="48791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35556" y="1073825"/>
            <a:ext cx="1144191" cy="341233"/>
          </a:xfrm>
          <a:prstGeom prst="roundRect">
            <a:avLst>
              <a:gd name="adj" fmla="val 17881"/>
            </a:avLst>
          </a:prstGeom>
          <a:solidFill>
            <a:srgbClr val="DFECE9"/>
          </a:solidFill>
          <a:ln/>
        </p:spPr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44498" y="1171813"/>
            <a:ext cx="145256" cy="14525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962382" y="1128236"/>
            <a:ext cx="708422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POWER BI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635556" y="1497330"/>
            <a:ext cx="6495812" cy="5674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Interactive Dashboard Highlights</a:t>
            </a:r>
            <a:endParaRPr lang="en-US" sz="35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35556" y="2337078"/>
            <a:ext cx="453985" cy="45398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35556" y="3017996"/>
            <a:ext cx="2269927" cy="2837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Subscription Analysis</a:t>
            </a:r>
            <a:endParaRPr lang="en-US" sz="1750" dirty="0"/>
          </a:p>
        </p:txBody>
      </p:sp>
      <p:sp>
        <p:nvSpPr>
          <p:cNvPr id="9" name="Text 4"/>
          <p:cNvSpPr/>
          <p:nvPr/>
        </p:nvSpPr>
        <p:spPr>
          <a:xfrm>
            <a:off x="635556" y="3410664"/>
            <a:ext cx="7872889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Visual breakdown of 27% subscribers vs 73% non-subscribers with revenue impact.</a:t>
            </a:r>
            <a:endParaRPr lang="en-US" sz="14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35556" y="4064318"/>
            <a:ext cx="453985" cy="45398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35556" y="4745236"/>
            <a:ext cx="2269927" cy="2837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Category Performance</a:t>
            </a:r>
            <a:endParaRPr lang="en-US" sz="1750" dirty="0"/>
          </a:p>
        </p:txBody>
      </p:sp>
      <p:sp>
        <p:nvSpPr>
          <p:cNvPr id="12" name="Text 6"/>
          <p:cNvSpPr/>
          <p:nvPr/>
        </p:nvSpPr>
        <p:spPr>
          <a:xfrm>
            <a:off x="635556" y="5137904"/>
            <a:ext cx="7872889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Revenue and sales comparison across all four product categories.</a:t>
            </a:r>
            <a:endParaRPr lang="en-US" sz="14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35556" y="5791557"/>
            <a:ext cx="453985" cy="453985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635556" y="6472476"/>
            <a:ext cx="2269927" cy="2837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Demographic Insights</a:t>
            </a:r>
            <a:endParaRPr lang="en-US" sz="1750" dirty="0"/>
          </a:p>
        </p:txBody>
      </p:sp>
      <p:sp>
        <p:nvSpPr>
          <p:cNvPr id="15" name="Text 8"/>
          <p:cNvSpPr/>
          <p:nvPr/>
        </p:nvSpPr>
        <p:spPr>
          <a:xfrm>
            <a:off x="635556" y="6865144"/>
            <a:ext cx="7872889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Age group analysis showing revenue contribution and purchase patterns.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204561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737598" y="2692479"/>
            <a:ext cx="1364933" cy="331470"/>
          </a:xfrm>
          <a:prstGeom prst="roundRect">
            <a:avLst>
              <a:gd name="adj" fmla="val 17878"/>
            </a:avLst>
          </a:prstGeom>
          <a:solidFill>
            <a:srgbClr val="DFECE9"/>
          </a:solidFill>
          <a:ln/>
        </p:spPr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843326" y="2787610"/>
            <a:ext cx="141089" cy="141089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054900" y="2745343"/>
            <a:ext cx="941903" cy="225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ACTION PLAN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1737598" y="3098363"/>
            <a:ext cx="5447228" cy="551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34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Strategic Recommendations</a:t>
            </a:r>
            <a:endParaRPr lang="en-US" sz="34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37598" y="3913823"/>
            <a:ext cx="3718322" cy="70544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913930" y="4795599"/>
            <a:ext cx="2204561" cy="275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Boost Subscriptions</a:t>
            </a:r>
            <a:endParaRPr lang="en-US" sz="1700" dirty="0"/>
          </a:p>
        </p:txBody>
      </p:sp>
      <p:sp>
        <p:nvSpPr>
          <p:cNvPr id="9" name="Text 4"/>
          <p:cNvSpPr/>
          <p:nvPr/>
        </p:nvSpPr>
        <p:spPr>
          <a:xfrm>
            <a:off x="1913930" y="5176957"/>
            <a:ext cx="3365659" cy="8461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Promote exclusive benefits to convert the 73% non-subscriber base into recurring revenue.</a:t>
            </a:r>
            <a:endParaRPr lang="en-US" sz="13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55920" y="3913823"/>
            <a:ext cx="3718441" cy="70544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632252" y="4795599"/>
            <a:ext cx="2204561" cy="275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Loyalty Programs</a:t>
            </a:r>
            <a:endParaRPr lang="en-US" sz="1700" dirty="0"/>
          </a:p>
        </p:txBody>
      </p:sp>
      <p:sp>
        <p:nvSpPr>
          <p:cNvPr id="12" name="Text 6"/>
          <p:cNvSpPr/>
          <p:nvPr/>
        </p:nvSpPr>
        <p:spPr>
          <a:xfrm>
            <a:off x="5632252" y="5176957"/>
            <a:ext cx="3365778" cy="8461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Reward repeat buyers to strengthen the already strong 80% loyal customer segment.</a:t>
            </a:r>
            <a:endParaRPr lang="en-US" sz="13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74361" y="3913823"/>
            <a:ext cx="3718441" cy="705445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9350693" y="4795599"/>
            <a:ext cx="2204561" cy="275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Targeted Marketing</a:t>
            </a:r>
            <a:endParaRPr lang="en-US" sz="1700" dirty="0"/>
          </a:p>
        </p:txBody>
      </p:sp>
      <p:sp>
        <p:nvSpPr>
          <p:cNvPr id="15" name="Text 8"/>
          <p:cNvSpPr/>
          <p:nvPr/>
        </p:nvSpPr>
        <p:spPr>
          <a:xfrm>
            <a:off x="9350693" y="5176957"/>
            <a:ext cx="3365778" cy="8461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Focus on high-revenue Young Adults and express-shipping users for maximum ROI.</a:t>
            </a:r>
            <a:endParaRPr lang="en-US" sz="1350" dirty="0"/>
          </a:p>
        </p:txBody>
      </p:sp>
      <p:sp>
        <p:nvSpPr>
          <p:cNvPr id="16" name="Shape 9"/>
          <p:cNvSpPr/>
          <p:nvPr/>
        </p:nvSpPr>
        <p:spPr>
          <a:xfrm>
            <a:off x="1737598" y="6397823"/>
            <a:ext cx="5489377" cy="1343858"/>
          </a:xfrm>
          <a:prstGeom prst="roundRect">
            <a:avLst>
              <a:gd name="adj" fmla="val 8165"/>
            </a:avLst>
          </a:prstGeom>
          <a:solidFill>
            <a:srgbClr val="FFFFFF"/>
          </a:solidFill>
          <a:ln w="22860">
            <a:solidFill>
              <a:srgbClr val="C5D2CF"/>
            </a:solidFill>
            <a:prstDash val="solid"/>
          </a:ln>
        </p:spPr>
      </p:sp>
      <p:sp>
        <p:nvSpPr>
          <p:cNvPr id="17" name="Shape 10"/>
          <p:cNvSpPr/>
          <p:nvPr/>
        </p:nvSpPr>
        <p:spPr>
          <a:xfrm>
            <a:off x="1714738" y="6397823"/>
            <a:ext cx="91440" cy="1343858"/>
          </a:xfrm>
          <a:prstGeom prst="roundRect">
            <a:avLst>
              <a:gd name="adj" fmla="val 81009"/>
            </a:avLst>
          </a:prstGeom>
          <a:solidFill>
            <a:srgbClr val="437066"/>
          </a:solidFill>
          <a:ln/>
        </p:spPr>
      </p:sp>
      <p:sp>
        <p:nvSpPr>
          <p:cNvPr id="18" name="Text 11"/>
          <p:cNvSpPr/>
          <p:nvPr/>
        </p:nvSpPr>
        <p:spPr>
          <a:xfrm>
            <a:off x="2005370" y="6597015"/>
            <a:ext cx="2455307" cy="275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Review Discount Strategy</a:t>
            </a:r>
            <a:endParaRPr lang="en-US" sz="1700" dirty="0"/>
          </a:p>
        </p:txBody>
      </p:sp>
      <p:sp>
        <p:nvSpPr>
          <p:cNvPr id="19" name="Text 12"/>
          <p:cNvSpPr/>
          <p:nvPr/>
        </p:nvSpPr>
        <p:spPr>
          <a:xfrm>
            <a:off x="2005370" y="6978372"/>
            <a:ext cx="5022413" cy="5641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Balance promotional sales with margin control—50% of Hat purchases use discounts.</a:t>
            </a:r>
            <a:endParaRPr lang="en-US" sz="1350" dirty="0"/>
          </a:p>
        </p:txBody>
      </p:sp>
      <p:sp>
        <p:nvSpPr>
          <p:cNvPr id="20" name="Shape 13"/>
          <p:cNvSpPr/>
          <p:nvPr/>
        </p:nvSpPr>
        <p:spPr>
          <a:xfrm>
            <a:off x="7403306" y="6397823"/>
            <a:ext cx="5489496" cy="1343858"/>
          </a:xfrm>
          <a:prstGeom prst="roundRect">
            <a:avLst>
              <a:gd name="adj" fmla="val 8165"/>
            </a:avLst>
          </a:prstGeom>
          <a:solidFill>
            <a:srgbClr val="FFFFFF"/>
          </a:solidFill>
          <a:ln w="22860">
            <a:solidFill>
              <a:srgbClr val="C5D2CF"/>
            </a:solidFill>
            <a:prstDash val="solid"/>
          </a:ln>
        </p:spPr>
      </p:sp>
      <p:sp>
        <p:nvSpPr>
          <p:cNvPr id="21" name="Shape 14"/>
          <p:cNvSpPr/>
          <p:nvPr/>
        </p:nvSpPr>
        <p:spPr>
          <a:xfrm>
            <a:off x="7380446" y="6397823"/>
            <a:ext cx="91440" cy="1343858"/>
          </a:xfrm>
          <a:prstGeom prst="roundRect">
            <a:avLst>
              <a:gd name="adj" fmla="val 81009"/>
            </a:avLst>
          </a:prstGeom>
          <a:solidFill>
            <a:srgbClr val="437066"/>
          </a:solidFill>
          <a:ln/>
        </p:spPr>
      </p:sp>
      <p:sp>
        <p:nvSpPr>
          <p:cNvPr id="22" name="Text 15"/>
          <p:cNvSpPr/>
          <p:nvPr/>
        </p:nvSpPr>
        <p:spPr>
          <a:xfrm>
            <a:off x="7671078" y="6597015"/>
            <a:ext cx="2204561" cy="275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Product Positioning</a:t>
            </a:r>
            <a:endParaRPr lang="en-US" sz="1700" dirty="0"/>
          </a:p>
        </p:txBody>
      </p:sp>
      <p:sp>
        <p:nvSpPr>
          <p:cNvPr id="23" name="Text 16"/>
          <p:cNvSpPr/>
          <p:nvPr/>
        </p:nvSpPr>
        <p:spPr>
          <a:xfrm>
            <a:off x="7671078" y="6978372"/>
            <a:ext cx="5022533" cy="5641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Highlight top-rated items (Gloves, Sandals, Boots) in marketing campaigns.</a:t>
            </a:r>
            <a:endParaRPr lang="en-US" sz="1350" dirty="0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9C70BA48-5D54-547A-3165-F2458EEB760A}"/>
              </a:ext>
            </a:extLst>
          </p:cNvPr>
          <p:cNvSpPr/>
          <p:nvPr/>
        </p:nvSpPr>
        <p:spPr>
          <a:xfrm>
            <a:off x="12892802" y="7741681"/>
            <a:ext cx="1737598" cy="48791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535</Words>
  <Application>Microsoft Office PowerPoint</Application>
  <PresentationFormat>Custom</PresentationFormat>
  <Paragraphs>112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Kanit Light</vt:lpstr>
      <vt:lpstr>Arial</vt:lpstr>
      <vt:lpstr>Martel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Retail Customer Insights and Analytics</dc:title>
  <dc:subject>Customer Shopping Behavior Analysis</dc:subject>
  <dc:creator>Nilesh Sahoo</dc:creator>
  <cp:lastModifiedBy>Nilesh Sahoo</cp:lastModifiedBy>
  <cp:revision>3</cp:revision>
  <dcterms:created xsi:type="dcterms:W3CDTF">2026-01-25T15:51:56Z</dcterms:created>
  <dcterms:modified xsi:type="dcterms:W3CDTF">2026-10-15T15:30:00Z</dcterms:modified>
</cp:coreProperties>
</file>